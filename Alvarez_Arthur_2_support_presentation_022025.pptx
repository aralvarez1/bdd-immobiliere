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8" r:id="rId1"/>
    <p:sldMasterId id="2147483679" r:id="rId2"/>
  </p:sldMasterIdLst>
  <p:notesMasterIdLst>
    <p:notesMasterId r:id="rId2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77" r:id="rId14"/>
    <p:sldId id="276" r:id="rId15"/>
    <p:sldId id="275" r:id="rId16"/>
    <p:sldId id="274" r:id="rId17"/>
    <p:sldId id="273" r:id="rId18"/>
    <p:sldId id="271" r:id="rId19"/>
    <p:sldId id="272" r:id="rId20"/>
    <p:sldId id="268" r:id="rId21"/>
    <p:sldId id="269" r:id="rId22"/>
    <p:sldId id="270" r:id="rId23"/>
    <p:sldId id="266" r:id="rId24"/>
  </p:sldIdLst>
  <p:sldSz cx="9144000" cy="5143500" type="screen16x9"/>
  <p:notesSz cx="6858000" cy="9144000"/>
  <p:embeddedFontLst>
    <p:embeddedFont>
      <p:font typeface="Arial Black" panose="020B0A04020102020204" pitchFamily="34" charset="0"/>
      <p:regular r:id="rId26"/>
      <p:bold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9" d="100"/>
          <a:sy n="129" d="100"/>
        </p:scale>
        <p:origin x="1104" y="3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1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25c099360e7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0" name="Google Shape;250;g25c099360e7_3_19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5c099360e7_3_19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5c099360e7_3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25c099360e7_3_20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g25c099360e7_3_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25c099360e7_3_2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g25c099360e7_3_2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g25c099360e7_3_2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25c099360e7_3_2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g25c099360e7_3_2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g25c099360e7_3_2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5c099360e7_3_2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1" name="Google Shape;291;g25c099360e7_3_23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g25c099360e7_3_2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5c099360e7_3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0" name="Google Shape;300;g25c099360e7_3_2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g25c099360e7_3_2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5c099360e7_3_2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g25c099360e7_3_2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g25c099360e7_3_2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25c099360e7_3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8" name="Google Shape;318;g25c099360e7_3_25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g25c099360e7_3_25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25c099360e7_3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7" name="Google Shape;327;g25c099360e7_3_26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25c099360e7_3_26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171C850F-1B36-46D8-7DBD-74BAA6C67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3ECE2272-429D-58EE-41A5-CA78696AA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348194B-4994-0ADE-917C-5DA615390F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975C06A5-1617-D0EE-FBD7-1ED837A60A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20008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C1517100-77CF-3344-AF49-15D9A06F9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183A2C79-6C5D-F15D-904D-5733272371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25319DE-5C12-70EB-7A2F-EDBA4DF99A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7AC58A00-79D6-D043-B932-F6F12E0E406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0503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271877C7-B0AC-A3DE-CA72-0618A9AE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272B244-6B9B-8ED9-CE49-9C17120CD3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16E59D2-23AA-F370-CEBA-722C4D2443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A4C9E1F4-1AEB-6711-1FA9-3647E5B23C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8667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536EF94-BA22-81F2-53E0-0A0626887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88DF379D-9848-6A55-B5BA-4C2A5BDED9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CE37F55E-AD62-66FC-6A52-43BD81CAF1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F3172211-6D32-C951-D784-9D8FC6AD7D4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089202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3A9E90F8-4D19-E5EA-9214-BF04A30D7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260ADC8E-B962-4466-7824-F5FDB870E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F22F73E-4213-3992-1FD7-5379B91197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E99CE200-96A2-8992-3FEF-46739629C6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55193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041BF82A-8D7A-47D5-E99C-9DD58F6C7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BED7B7B-DB9A-2A99-E007-48E7D76A93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139954E1-2180-8444-27DC-4A70249E4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AA208CC-6332-3413-1DE8-102BCB06ED8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54846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41084E8D-356C-9836-0D77-F503BD610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6417000C-1CE3-84C5-2A1D-25F508A3AC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482F1ABE-F690-8E74-07C2-B4A598E573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6088C17E-93C3-C78C-9723-81038DEF998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57051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7A37E7E-D70A-FB5D-6602-A5B22F945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CDAC9C8D-B092-D73D-55F7-602A61BCA30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5DCECED8-2AA8-DC74-9985-F86C42185D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4AF9C9A3-C2DA-73AB-434D-8ED81519821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379129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72DC2CA7-47DF-7668-FA9D-2443942CE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B70A39AE-755A-258B-886E-809417C56D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626C9105-5A86-097A-CC12-6312657E27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370CE2AB-73CC-BAF6-5A59-B6787A5C9CF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815552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A1ABE1D7-2368-6237-7AA0-04252111D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F8EF982C-014E-8B72-9EE4-6D7555806D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B7F8D262-50E2-7875-366C-0101878A1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258DC162-BE50-ACA3-FE17-1FD0233C4C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32258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>
          <a:extLst>
            <a:ext uri="{FF2B5EF4-FFF2-40B4-BE49-F238E27FC236}">
              <a16:creationId xmlns:a16="http://schemas.microsoft.com/office/drawing/2014/main" id="{5B392719-AC3D-1281-404F-95676101C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25c099360e7_3_277:notes">
            <a:extLst>
              <a:ext uri="{FF2B5EF4-FFF2-40B4-BE49-F238E27FC236}">
                <a16:creationId xmlns:a16="http://schemas.microsoft.com/office/drawing/2014/main" id="{4F340559-5FB2-A69C-D512-6D1A9C9B16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8" name="Google Shape;338;g25c099360e7_3_277:notes">
            <a:extLst>
              <a:ext uri="{FF2B5EF4-FFF2-40B4-BE49-F238E27FC236}">
                <a16:creationId xmlns:a16="http://schemas.microsoft.com/office/drawing/2014/main" id="{835DF255-D0A8-AF73-0BE9-772E99F313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5c099360e7_3_277:notes">
            <a:extLst>
              <a:ext uri="{FF2B5EF4-FFF2-40B4-BE49-F238E27FC236}">
                <a16:creationId xmlns:a16="http://schemas.microsoft.com/office/drawing/2014/main" id="{8843FB74-9739-CDAE-6E9F-EFDCF0FFD8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6729521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25c099360e7_3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8" name="Google Shape;348;g25c099360e7_3_2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g25c099360e7_3_2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 avec image">
  <p:cSld name="Diapositive de titre avec imag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6" name="Google Shape;56;p14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4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58" name="Google Shape;58;p1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9" name="Google Shape;59;p14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61" name="Google Shape;61;p14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rgbClr val="E26064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 01">
  <p:cSld name="DISPOSITION DU TEXTE 01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5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6" name="Google Shape;66;p15"/>
          <p:cNvCxnSpPr/>
          <p:nvPr/>
        </p:nvCxnSpPr>
        <p:spPr>
          <a:xfrm rot="10800000" flipH="1">
            <a:off x="4781550" y="3785308"/>
            <a:ext cx="1143431" cy="1352550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7" name="Google Shape;67;p15" title="Sous-titre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5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3"/>
          </p:nvPr>
        </p:nvSpPr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 avec sous-titre">
  <p:cSld name="Comparaison avec sous-titr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oogle Shape;73;p1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rgbClr val="EE9571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74" name="Google Shape;74;p1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75" name="Google Shape;75;p1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76" name="Google Shape;76;p1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77" name="Google Shape;77;p1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390524" y="1578666"/>
            <a:ext cx="4106468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6" title="Puces"/>
          <p:cNvSpPr txBox="1">
            <a:spLocks noGrp="1"/>
          </p:cNvSpPr>
          <p:nvPr>
            <p:ph type="body" idx="2"/>
          </p:nvPr>
        </p:nvSpPr>
        <p:spPr>
          <a:xfrm>
            <a:off x="390524" y="2164557"/>
            <a:ext cx="4106468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3"/>
          </p:nvPr>
        </p:nvSpPr>
        <p:spPr>
          <a:xfrm>
            <a:off x="4640035" y="1578666"/>
            <a:ext cx="4106700" cy="585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2100"/>
              <a:buFont typeface="Arial"/>
              <a:buNone/>
              <a:defRPr sz="21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6" title="Puces"/>
          <p:cNvSpPr txBox="1">
            <a:spLocks noGrp="1"/>
          </p:cNvSpPr>
          <p:nvPr>
            <p:ph type="body" idx="4"/>
          </p:nvPr>
        </p:nvSpPr>
        <p:spPr>
          <a:xfrm>
            <a:off x="4640035" y="2164557"/>
            <a:ext cx="4106700" cy="2424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6" title="Sous-titre"/>
          <p:cNvSpPr txBox="1">
            <a:spLocks noGrp="1"/>
          </p:cNvSpPr>
          <p:nvPr>
            <p:ph type="body" idx="5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86" name="Google Shape;86;p1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 avec image">
  <p:cSld name="En-tête de section avec image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7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rgbClr val="EE957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0" name="Google Shape;90;p17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1" name="Google Shape;91;p17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93" name="Google Shape;93;p17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4" name="Google Shape;94;p17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7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7"/>
          <p:cNvSpPr>
            <a:spLocks noGrp="1"/>
          </p:cNvSpPr>
          <p:nvPr>
            <p:ph type="pic" idx="2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97" name="Google Shape;97;p17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8" name="Google Shape;98;p17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phique">
  <p:cSld name="Graphique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8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01" name="Google Shape;101;p18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02" name="Google Shape;102;p18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03" name="Google Shape;103;p18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rgbClr val="EE957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8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8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6" name="Google Shape;106;p1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08" name="Google Shape;108;p18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2"/>
          </p:nvPr>
        </p:nvSpPr>
        <p:spPr>
          <a:xfrm>
            <a:off x="398860" y="1504321"/>
            <a:ext cx="3919323" cy="30629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0" name="Google Shape;110;p18" title="Graphique"/>
          <p:cNvSpPr>
            <a:spLocks noGrp="1"/>
          </p:cNvSpPr>
          <p:nvPr>
            <p:ph type="chart" idx="3"/>
          </p:nvPr>
        </p:nvSpPr>
        <p:spPr>
          <a:xfrm>
            <a:off x="4347086" y="1504322"/>
            <a:ext cx="4289548" cy="3063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du texte 02">
  <p:cSld name="Disposition du texte 02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9"/>
          <p:cNvSpPr/>
          <p:nvPr/>
        </p:nvSpPr>
        <p:spPr>
          <a:xfrm rot="10800000">
            <a:off x="1379765" y="-4"/>
            <a:ext cx="7764236" cy="4229105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9"/>
          <p:cNvSpPr>
            <a:spLocks noGrp="1"/>
          </p:cNvSpPr>
          <p:nvPr>
            <p:ph type="pic" idx="2"/>
          </p:nvPr>
        </p:nvSpPr>
        <p:spPr>
          <a:xfrm>
            <a:off x="4627633" y="1076325"/>
            <a:ext cx="4516366" cy="4067175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sp>
        <p:nvSpPr>
          <p:cNvPr id="114" name="Google Shape;114;p19" title="Puces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5" name="Google Shape;115;p19"/>
          <p:cNvSpPr/>
          <p:nvPr/>
        </p:nvSpPr>
        <p:spPr>
          <a:xfrm flipH="1">
            <a:off x="2233613" y="-4"/>
            <a:ext cx="3090863" cy="981079"/>
          </a:xfrm>
          <a:prstGeom prst="parallelogram">
            <a:avLst>
              <a:gd name="adj" fmla="val 186380"/>
            </a:avLst>
          </a:prstGeom>
          <a:solidFill>
            <a:srgbClr val="E26064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19"/>
          <p:cNvCxnSpPr/>
          <p:nvPr/>
        </p:nvCxnSpPr>
        <p:spPr>
          <a:xfrm rot="10800000" flipH="1">
            <a:off x="7764236" y="889089"/>
            <a:ext cx="1379764" cy="1225461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17" name="Google Shape;117;p19" title="Sous-titre"/>
          <p:cNvSpPr txBox="1">
            <a:spLocks noGrp="1"/>
          </p:cNvSpPr>
          <p:nvPr>
            <p:ph type="body" idx="3"/>
          </p:nvPr>
        </p:nvSpPr>
        <p:spPr>
          <a:xfrm>
            <a:off x="398534" y="1922608"/>
            <a:ext cx="5506966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8" name="Google Shape;118;p19"/>
          <p:cNvSpPr txBox="1"/>
          <p:nvPr/>
        </p:nvSpPr>
        <p:spPr>
          <a:xfrm>
            <a:off x="8305038" y="178308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19" name="Google Shape;119;p19" title="Titre 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31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au">
  <p:cSld name="Tableau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 title="Tableau"/>
          <p:cNvSpPr>
            <a:spLocks noGrp="1"/>
          </p:cNvSpPr>
          <p:nvPr>
            <p:ph type="tbl" idx="2"/>
          </p:nvPr>
        </p:nvSpPr>
        <p:spPr>
          <a:xfrm>
            <a:off x="398533" y="1998602"/>
            <a:ext cx="8245031" cy="25748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50" tIns="34275" rIns="68550" bIns="342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grpSp>
        <p:nvGrpSpPr>
          <p:cNvPr id="124" name="Google Shape;124;p2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25" name="Google Shape;125;p2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26" name="Google Shape;126;p2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27" name="Google Shape;127;p2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2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0" title="Sous-titre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32" name="Google Shape;132;p20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nde photo">
  <p:cSld name="Grande photo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 rot="10800000" flipH="1">
            <a:off x="0" y="-4"/>
            <a:ext cx="8810625" cy="4724402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21" title="Image"/>
          <p:cNvSpPr>
            <a:spLocks noGrp="1"/>
          </p:cNvSpPr>
          <p:nvPr>
            <p:ph type="pic" idx="2"/>
          </p:nvPr>
        </p:nvSpPr>
        <p:spPr>
          <a:xfrm>
            <a:off x="269422" y="244928"/>
            <a:ext cx="8605156" cy="4653644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sp>
      <p:cxnSp>
        <p:nvCxnSpPr>
          <p:cNvPr id="136" name="Google Shape;136;p21"/>
          <p:cNvCxnSpPr/>
          <p:nvPr/>
        </p:nvCxnSpPr>
        <p:spPr>
          <a:xfrm rot="10800000" flipH="1">
            <a:off x="0" y="4008665"/>
            <a:ext cx="1771650" cy="930729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37" name="Google Shape;137;p21" title="Titre "/>
          <p:cNvSpPr txBox="1">
            <a:spLocks noGrp="1"/>
          </p:cNvSpPr>
          <p:nvPr>
            <p:ph type="title"/>
          </p:nvPr>
        </p:nvSpPr>
        <p:spPr>
          <a:xfrm>
            <a:off x="269422" y="419101"/>
            <a:ext cx="6249917" cy="704849"/>
          </a:xfrm>
          <a:prstGeom prst="rect">
            <a:avLst/>
          </a:prstGeom>
          <a:solidFill>
            <a:schemeClr val="lt1">
              <a:alpha val="89803"/>
            </a:schemeClr>
          </a:solidFill>
          <a:ln>
            <a:noFill/>
          </a:ln>
        </p:spPr>
        <p:txBody>
          <a:bodyPr spcFirstLastPara="1" wrap="square" lIns="216000" tIns="34275" rIns="68575" bIns="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Calibri"/>
              <a:buNone/>
              <a:defRPr sz="2700" b="1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erci">
  <p:cSld name="Merci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body" idx="1"/>
          </p:nvPr>
        </p:nvSpPr>
        <p:spPr>
          <a:xfrm>
            <a:off x="5117197" y="2595872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2"/>
          </p:nvPr>
        </p:nvSpPr>
        <p:spPr>
          <a:xfrm>
            <a:off x="5117197" y="287958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body" idx="3"/>
          </p:nvPr>
        </p:nvSpPr>
        <p:spPr>
          <a:xfrm>
            <a:off x="5117196" y="3162502"/>
            <a:ext cx="2584337" cy="216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body" idx="4"/>
          </p:nvPr>
        </p:nvSpPr>
        <p:spPr>
          <a:xfrm>
            <a:off x="5117197" y="3446218"/>
            <a:ext cx="2584336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>
            <a:off x="4844204" y="2628935"/>
            <a:ext cx="194156" cy="194156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2"/>
          <p:cNvSpPr/>
          <p:nvPr/>
        </p:nvSpPr>
        <p:spPr>
          <a:xfrm>
            <a:off x="4880717" y="2923490"/>
            <a:ext cx="121130" cy="222071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2"/>
          <p:cNvSpPr/>
          <p:nvPr/>
        </p:nvSpPr>
        <p:spPr>
          <a:xfrm>
            <a:off x="4844204" y="3245959"/>
            <a:ext cx="194156" cy="141205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2"/>
          <p:cNvSpPr/>
          <p:nvPr/>
        </p:nvSpPr>
        <p:spPr>
          <a:xfrm>
            <a:off x="4853787" y="3487561"/>
            <a:ext cx="174989" cy="174989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8575" tIns="28575" rIns="28575" bIns="285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2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8" name="Google Shape;148;p22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49" name="Google Shape;149;p22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0" name="Google Shape;150;p22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1" name="Google Shape;151;p22"/>
          <p:cNvSpPr>
            <a:spLocks noGrp="1"/>
          </p:cNvSpPr>
          <p:nvPr>
            <p:ph type="pic" idx="5"/>
          </p:nvPr>
        </p:nvSpPr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2" title="Titre"/>
          <p:cNvSpPr txBox="1">
            <a:spLocks noGrp="1"/>
          </p:cNvSpPr>
          <p:nvPr>
            <p:ph type="ctrTitle"/>
          </p:nvPr>
        </p:nvSpPr>
        <p:spPr>
          <a:xfrm>
            <a:off x="4781791" y="1365767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>
  <p:cSld name="Diapositive de titre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5" name="Google Shape;155;p23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56" name="Google Shape;156;p23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57" name="Google Shape;157;p23" title="Titre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3" title="Sous-titre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59" name="Google Shape;159;p23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>
  <p:cSld name="En-tête de section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4"/>
          <p:cNvSpPr/>
          <p:nvPr/>
        </p:nvSpPr>
        <p:spPr>
          <a:xfrm rot="-1641210">
            <a:off x="-477993" y="2691132"/>
            <a:ext cx="2895122" cy="1310214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3" name="Google Shape;163;p24"/>
          <p:cNvCxnSpPr/>
          <p:nvPr/>
        </p:nvCxnSpPr>
        <p:spPr>
          <a:xfrm rot="10800000" flipH="1">
            <a:off x="0" y="757568"/>
            <a:ext cx="1338943" cy="680629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4" name="Google Shape;164;p24" title="Titre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  <a:defRPr sz="3000" b="1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4" title="Sous-titre"/>
          <p:cNvSpPr txBox="1">
            <a:spLocks noGrp="1"/>
          </p:cNvSpPr>
          <p:nvPr>
            <p:ph type="body" idx="1"/>
          </p:nvPr>
        </p:nvSpPr>
        <p:spPr>
          <a:xfrm>
            <a:off x="4712882" y="2844035"/>
            <a:ext cx="3683725" cy="68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0909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90909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cxnSp>
        <p:nvCxnSpPr>
          <p:cNvPr id="166" name="Google Shape;166;p24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67" name="Google Shape;167;p24"/>
          <p:cNvSpPr/>
          <p:nvPr/>
        </p:nvSpPr>
        <p:spPr>
          <a:xfrm>
            <a:off x="5815584" y="0"/>
            <a:ext cx="1693926" cy="557114"/>
          </a:xfrm>
          <a:prstGeom prst="parallelogram">
            <a:avLst>
              <a:gd name="adj" fmla="val 19585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8" name="Google Shape;168;p24"/>
          <p:cNvCxnSpPr/>
          <p:nvPr/>
        </p:nvCxnSpPr>
        <p:spPr>
          <a:xfrm rot="10800000" flipH="1">
            <a:off x="0" y="306422"/>
            <a:ext cx="4946515" cy="2552361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9" name="Google Shape;169;p24"/>
          <p:cNvCxnSpPr/>
          <p:nvPr/>
        </p:nvCxnSpPr>
        <p:spPr>
          <a:xfrm rot="10800000" flipH="1">
            <a:off x="-13378" y="3950208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70" name="Google Shape;170;p24"/>
          <p:cNvSpPr/>
          <p:nvPr/>
        </p:nvSpPr>
        <p:spPr>
          <a:xfrm rot="-1641210">
            <a:off x="-104276" y="2555284"/>
            <a:ext cx="1078799" cy="177435"/>
          </a:xfrm>
          <a:prstGeom prst="parallelogram">
            <a:avLst>
              <a:gd name="adj" fmla="val 53218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37">
          <p15:clr>
            <a:srgbClr val="FBAE40"/>
          </p15:clr>
        </p15:guide>
        <p15:guide id="2" pos="2880">
          <p15:clr>
            <a:srgbClr val="FBAE40"/>
          </p15:clr>
        </p15:guide>
        <p15:guide id="3" pos="107">
          <p15:clr>
            <a:srgbClr val="FBAE40"/>
          </p15:clr>
        </p15:guide>
        <p15:guide id="4" orient="horz" pos="3127">
          <p15:clr>
            <a:srgbClr val="FBAE40"/>
          </p15:clr>
        </p15:guide>
        <p15:guide id="5" pos="5653">
          <p15:clr>
            <a:srgbClr val="FBAE40"/>
          </p15:clr>
        </p15:guide>
        <p15:guide id="6" orient="horz" pos="107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>
  <p:cSld name="Titre et contenu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5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73" name="Google Shape;173;p25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74" name="Google Shape;174;p25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5" name="Google Shape;175;p25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76" name="Google Shape;176;p25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25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78" name="Google Shape;178;p25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81" name="Google Shape;181;p25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25"/>
          <p:cNvSpPr txBox="1">
            <a:spLocks noGrp="1"/>
          </p:cNvSpPr>
          <p:nvPr>
            <p:ph type="body" idx="1"/>
          </p:nvPr>
        </p:nvSpPr>
        <p:spPr>
          <a:xfrm>
            <a:off x="389008" y="1253943"/>
            <a:ext cx="8126342" cy="337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>
  <p:cSld name="Deux contenus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4" name="Google Shape;184;p26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85" name="Google Shape;185;p26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86" name="Google Shape;186;p26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87" name="Google Shape;187;p26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188" name="Google Shape;188;p26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9" name="Google Shape;189;p26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190" name="Google Shape;190;p26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193" name="Google Shape;193;p26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26"/>
          <p:cNvSpPr txBox="1">
            <a:spLocks noGrp="1"/>
          </p:cNvSpPr>
          <p:nvPr>
            <p:ph type="body" idx="1"/>
          </p:nvPr>
        </p:nvSpPr>
        <p:spPr>
          <a:xfrm>
            <a:off x="397265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5" name="Google Shape;195;p26"/>
          <p:cNvSpPr txBox="1">
            <a:spLocks noGrp="1"/>
          </p:cNvSpPr>
          <p:nvPr>
            <p:ph type="body" idx="2"/>
          </p:nvPr>
        </p:nvSpPr>
        <p:spPr>
          <a:xfrm>
            <a:off x="4629150" y="1238283"/>
            <a:ext cx="3886200" cy="3394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>
  <p:cSld name="Comparaison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7" name="Google Shape;197;p27"/>
          <p:cNvCxnSpPr/>
          <p:nvPr/>
        </p:nvCxnSpPr>
        <p:spPr>
          <a:xfrm rot="10800000">
            <a:off x="-6935" y="2725475"/>
            <a:ext cx="1434464" cy="1179742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grpSp>
        <p:nvGrpSpPr>
          <p:cNvPr id="198" name="Google Shape;198;p27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199" name="Google Shape;199;p27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0" name="Google Shape;200;p27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01" name="Google Shape;201;p27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2" name="Google Shape;202;p27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sp>
        <p:nvSpPr>
          <p:cNvPr id="203" name="Google Shape;203;p27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2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206" name="Google Shape;206;p27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27"/>
          <p:cNvSpPr txBox="1">
            <a:spLocks noGrp="1"/>
          </p:cNvSpPr>
          <p:nvPr>
            <p:ph type="body" idx="1"/>
          </p:nvPr>
        </p:nvSpPr>
        <p:spPr>
          <a:xfrm>
            <a:off x="389008" y="1260872"/>
            <a:ext cx="4036876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8" name="Google Shape;208;p27"/>
          <p:cNvSpPr txBox="1">
            <a:spLocks noGrp="1"/>
          </p:cNvSpPr>
          <p:nvPr>
            <p:ph type="body" idx="2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400"/>
              <a:buFont typeface="Arial"/>
              <a:buNone/>
              <a:defRPr sz="1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9" name="Google Shape;209;p27"/>
          <p:cNvSpPr txBox="1">
            <a:spLocks noGrp="1"/>
          </p:cNvSpPr>
          <p:nvPr>
            <p:ph type="body" idx="3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0" name="Google Shape;210;p27"/>
          <p:cNvSpPr txBox="1">
            <a:spLocks noGrp="1"/>
          </p:cNvSpPr>
          <p:nvPr>
            <p:ph type="body" idx="4"/>
          </p:nvPr>
        </p:nvSpPr>
        <p:spPr>
          <a:xfrm>
            <a:off x="389008" y="1878806"/>
            <a:ext cx="4043812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  <p15:guide id="3" pos="295">
          <p15:clr>
            <a:srgbClr val="FBAE40"/>
          </p15:clr>
        </p15:guide>
        <p15:guide id="4" pos="5567">
          <p15:clr>
            <a:srgbClr val="FBAE40"/>
          </p15:clr>
        </p15:guide>
        <p15:guide id="5" orient="horz" pos="583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>
  <p:cSld name="Contenu avec légende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8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3" name="Google Shape;213;p28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14" name="Google Shape;214;p28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5" name="Google Shape;215;p28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16" name="Google Shape;216;p28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17" name="Google Shape;217;p28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8" name="Google Shape;218;p28"/>
          <p:cNvSpPr txBox="1">
            <a:spLocks noGrp="1"/>
          </p:cNvSpPr>
          <p:nvPr>
            <p:ph type="body" idx="2"/>
          </p:nvPr>
        </p:nvSpPr>
        <p:spPr>
          <a:xfrm>
            <a:off x="4620987" y="1718035"/>
            <a:ext cx="4352754" cy="325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4290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048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>
  <p:cSld name="Image avec légende"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9"/>
          <p:cNvSpPr/>
          <p:nvPr/>
        </p:nvSpPr>
        <p:spPr>
          <a:xfrm rot="10800000" flipH="1">
            <a:off x="0" y="-4"/>
            <a:ext cx="7968996" cy="4053083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1" name="Google Shape;221;p29"/>
          <p:cNvCxnSpPr/>
          <p:nvPr/>
        </p:nvCxnSpPr>
        <p:spPr>
          <a:xfrm rot="10800000" flipH="1">
            <a:off x="0" y="0"/>
            <a:ext cx="4523015" cy="225334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222" name="Google Shape;222;p29"/>
          <p:cNvCxnSpPr/>
          <p:nvPr/>
        </p:nvCxnSpPr>
        <p:spPr>
          <a:xfrm rot="10800000" flipH="1">
            <a:off x="6753226" y="2943224"/>
            <a:ext cx="2390775" cy="1266825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3" name="Google Shape;223;p29" title="Titre"/>
          <p:cNvSpPr txBox="1">
            <a:spLocks noGrp="1"/>
          </p:cNvSpPr>
          <p:nvPr>
            <p:ph type="ctrTitle"/>
          </p:nvPr>
        </p:nvSpPr>
        <p:spPr>
          <a:xfrm>
            <a:off x="539377" y="3280527"/>
            <a:ext cx="3983637" cy="995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Arial"/>
              <a:buNone/>
              <a:defRPr sz="32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cxnSp>
        <p:nvCxnSpPr>
          <p:cNvPr id="224" name="Google Shape;224;p29"/>
          <p:cNvCxnSpPr/>
          <p:nvPr/>
        </p:nvCxnSpPr>
        <p:spPr>
          <a:xfrm rot="10800000" flipH="1">
            <a:off x="-13378" y="3525012"/>
            <a:ext cx="1439842" cy="750790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25" name="Google Shape;225;p29"/>
          <p:cNvSpPr txBox="1">
            <a:spLocks noGrp="1"/>
          </p:cNvSpPr>
          <p:nvPr>
            <p:ph type="body" idx="1"/>
          </p:nvPr>
        </p:nvSpPr>
        <p:spPr>
          <a:xfrm>
            <a:off x="539377" y="4275802"/>
            <a:ext cx="3983637" cy="698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2E7A40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1100"/>
              <a:buFont typeface="Arial"/>
              <a:buNone/>
              <a:defRPr sz="1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2E7A40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6" name="Google Shape;226;p29"/>
          <p:cNvSpPr>
            <a:spLocks noGrp="1"/>
          </p:cNvSpPr>
          <p:nvPr>
            <p:ph type="pic" idx="2"/>
          </p:nvPr>
        </p:nvSpPr>
        <p:spPr>
          <a:xfrm>
            <a:off x="4687477" y="1703895"/>
            <a:ext cx="4286263" cy="3270535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5653">
          <p15:clr>
            <a:srgbClr val="FBAE40"/>
          </p15:clr>
        </p15:guide>
        <p15:guide id="3" pos="103">
          <p15:clr>
            <a:srgbClr val="FBAE40"/>
          </p15:clr>
        </p15:guide>
        <p15:guide id="4" orient="horz" pos="3133">
          <p15:clr>
            <a:srgbClr val="FBAE40"/>
          </p15:clr>
        </p15:guide>
        <p15:guide id="5" orient="horz" pos="107">
          <p15:clr>
            <a:srgbClr val="FBAE40"/>
          </p15:clr>
        </p15:guide>
        <p15:guide id="6" pos="1843">
          <p15:clr>
            <a:srgbClr val="FBAE40"/>
          </p15:clr>
        </p15:guide>
        <p15:guide id="7" pos="329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>
  <p:cSld name="Vide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29" name="Google Shape;229;p30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0" name="Google Shape;230;p30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31" name="Google Shape;231;p30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32" name="Google Shape;232;p30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3" name="Google Shape;233;p30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35" name="Google Shape;235;p3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>
  <p:cSld name="Titre uniquement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1"/>
          <p:cNvSpPr txBox="1"/>
          <p:nvPr/>
        </p:nvSpPr>
        <p:spPr>
          <a:xfrm>
            <a:off x="8304284" y="176799"/>
            <a:ext cx="6109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 b="1" i="0" u="none" strike="noStrike" cap="none">
                <a:solidFill>
                  <a:schemeClr val="accent1"/>
                </a:solidFill>
                <a:latin typeface="Arial Black"/>
                <a:ea typeface="Arial Black"/>
                <a:cs typeface="Arial Black"/>
                <a:sym typeface="Arial Black"/>
              </a:rPr>
              <a:t>FR</a:t>
            </a:r>
            <a:endParaRPr sz="1100"/>
          </a:p>
        </p:txBody>
      </p:sp>
      <p:grpSp>
        <p:nvGrpSpPr>
          <p:cNvPr id="238" name="Google Shape;238;p31"/>
          <p:cNvGrpSpPr/>
          <p:nvPr/>
        </p:nvGrpSpPr>
        <p:grpSpPr>
          <a:xfrm flipH="1">
            <a:off x="5670996" y="0"/>
            <a:ext cx="3572983" cy="2655755"/>
            <a:chOff x="-124265" y="-2"/>
            <a:chExt cx="4763978" cy="3367272"/>
          </a:xfrm>
        </p:grpSpPr>
        <p:sp>
          <p:nvSpPr>
            <p:cNvPr id="239" name="Google Shape;239;p31"/>
            <p:cNvSpPr/>
            <p:nvPr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40" name="Google Shape;240;p31"/>
            <p:cNvCxnSpPr/>
            <p:nvPr/>
          </p:nvCxnSpPr>
          <p:spPr>
            <a:xfrm rot="10800000" flipH="1">
              <a:off x="1433638" y="-2"/>
              <a:ext cx="1240971" cy="916595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  <p:sp>
          <p:nvSpPr>
            <p:cNvPr id="241" name="Google Shape;241;p31"/>
            <p:cNvSpPr/>
            <p:nvPr/>
          </p:nvSpPr>
          <p:spPr>
            <a:xfrm rot="-2178838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2" name="Google Shape;242;p31"/>
          <p:cNvSpPr/>
          <p:nvPr/>
        </p:nvSpPr>
        <p:spPr>
          <a:xfrm flipH="1">
            <a:off x="5009931" y="1"/>
            <a:ext cx="1085850" cy="479298"/>
          </a:xfrm>
          <a:prstGeom prst="parallelogram">
            <a:avLst>
              <a:gd name="adj" fmla="val 135617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1" title="Titre 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31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31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7">
          <p15:clr>
            <a:srgbClr val="FBAE40"/>
          </p15:clr>
        </p15:guide>
        <p15:guide id="2" pos="2880">
          <p15:clr>
            <a:srgbClr val="FBAE40"/>
          </p15:clr>
        </p15:guide>
        <p15:guide id="3" pos="583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position personnalisée">
  <p:cSld name="Disposition personnalisée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2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‹N°›</a:t>
            </a:fld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/>
          </p:nvPr>
        </p:nvSpPr>
        <p:spPr>
          <a:xfrm>
            <a:off x="389008" y="156772"/>
            <a:ext cx="8126342" cy="860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  <a:defRPr sz="3300" b="1" i="0" u="none" strike="noStrike" cap="none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3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3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/>
              <a:t>Création et utilisation de la base de données</a:t>
            </a:r>
            <a:endParaRPr/>
          </a:p>
        </p:txBody>
      </p:sp>
      <p:sp>
        <p:nvSpPr>
          <p:cNvPr id="256" name="Google Shape;256;p33"/>
          <p:cNvSpPr txBox="1">
            <a:spLocks noGrp="1"/>
          </p:cNvSpPr>
          <p:nvPr>
            <p:ph type="subTitle" idx="1"/>
          </p:nvPr>
        </p:nvSpPr>
        <p:spPr>
          <a:xfrm>
            <a:off x="4781411" y="2730749"/>
            <a:ext cx="3640754" cy="943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" dirty="0"/>
              <a:t>Arthur Alvarez</a:t>
            </a:r>
            <a:endParaRPr dirty="0"/>
          </a:p>
        </p:txBody>
      </p:sp>
      <p:pic>
        <p:nvPicPr>
          <p:cNvPr id="257" name="Google Shape;257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40217" y="3713672"/>
            <a:ext cx="4303784" cy="1429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5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 txBox="1"/>
          <p:nvPr/>
        </p:nvSpPr>
        <p:spPr>
          <a:xfrm>
            <a:off x="6412175" y="169075"/>
            <a:ext cx="2027400" cy="1639500"/>
          </a:xfrm>
          <a:prstGeom prst="rect">
            <a:avLst/>
          </a:prstGeom>
          <a:solidFill>
            <a:srgbClr val="FFE59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Ne pas hésiter à modifier les visuels et à créer des slides peu chargées.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Bon courage 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>
            <a:spLocks noGrp="1"/>
          </p:cNvSpPr>
          <p:nvPr>
            <p:ph type="title"/>
          </p:nvPr>
        </p:nvSpPr>
        <p:spPr>
          <a:xfrm>
            <a:off x="398533" y="981363"/>
            <a:ext cx="5506967" cy="9116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dirty="0"/>
              <a:t>Contexte du projet</a:t>
            </a:r>
            <a:endParaRPr dirty="0"/>
          </a:p>
        </p:txBody>
      </p:sp>
      <p:sp>
        <p:nvSpPr>
          <p:cNvPr id="266" name="Google Shape;266;p34"/>
          <p:cNvSpPr txBox="1">
            <a:spLocks noGrp="1"/>
          </p:cNvSpPr>
          <p:nvPr>
            <p:ph type="body" idx="2"/>
          </p:nvPr>
        </p:nvSpPr>
        <p:spPr>
          <a:xfrm>
            <a:off x="398534" y="1922608"/>
            <a:ext cx="5506973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Analyser le marché de l’immobilier</a:t>
            </a:r>
            <a:endParaRPr dirty="0"/>
          </a:p>
        </p:txBody>
      </p:sp>
      <p:sp>
        <p:nvSpPr>
          <p:cNvPr id="267" name="Google Shape;267;p34"/>
          <p:cNvSpPr txBox="1">
            <a:spLocks noGrp="1"/>
          </p:cNvSpPr>
          <p:nvPr>
            <p:ph type="body" idx="1"/>
          </p:nvPr>
        </p:nvSpPr>
        <p:spPr>
          <a:xfrm>
            <a:off x="398533" y="2397686"/>
            <a:ext cx="3707122" cy="22187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Données initiales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Dictionnaire des données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Schéma relationnel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Base de données</a:t>
            </a:r>
          </a:p>
          <a:p>
            <a:pPr marL="45720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Requêtes</a:t>
            </a:r>
            <a:endParaRPr dirty="0"/>
          </a:p>
        </p:txBody>
      </p:sp>
      <p:pic>
        <p:nvPicPr>
          <p:cNvPr id="268" name="Google Shape;268;p34" title="Horizon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23312" r="23313"/>
          <a:stretch/>
        </p:blipFill>
        <p:spPr>
          <a:xfrm>
            <a:off x="4953000" y="0"/>
            <a:ext cx="4191000" cy="5154187"/>
          </a:xfrm>
          <a:prstGeom prst="rect">
            <a:avLst/>
          </a:prstGeom>
          <a:solidFill>
            <a:srgbClr val="D8D8D8"/>
          </a:solidFill>
          <a:ln>
            <a:noFill/>
          </a:ln>
        </p:spPr>
      </p:pic>
      <p:sp>
        <p:nvSpPr>
          <p:cNvPr id="269" name="Google Shape;269;p34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270" name="Google Shape;270;p34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5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La stratégie de sauvegarde et la conformité RGPD</a:t>
            </a:r>
            <a:endParaRPr b="0"/>
          </a:p>
        </p:txBody>
      </p:sp>
      <p:sp>
        <p:nvSpPr>
          <p:cNvPr id="277" name="Google Shape;277;p35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Stratégie de sauvegarde : garder les fichiers d’origine, travailler sur des copies pour éviter de potentiels bugs, sauvegarde complète à chaque modification importante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Suppression de plusieurs colonnes contenant des informations personnelles pour être conforme au RGPD, comme le nom de l’acquéreur ou la géolocalisation</a:t>
            </a:r>
            <a:endParaRPr dirty="0"/>
          </a:p>
        </p:txBody>
      </p:sp>
      <p:sp>
        <p:nvSpPr>
          <p:cNvPr id="278" name="Google Shape;278;p35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79" name="Google Shape;279;p35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/>
              <a:t>Les données initiales</a:t>
            </a:r>
            <a:endParaRPr b="0"/>
          </a:p>
        </p:txBody>
      </p:sp>
      <p:sp>
        <p:nvSpPr>
          <p:cNvPr id="286" name="Google Shape;286;p36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Trois fichiers :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Site open data DVF : demandes de valeurs foncières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INSEE : résultats des recensements de la population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 err="1"/>
              <a:t>Data.gouv</a:t>
            </a:r>
            <a:r>
              <a:rPr lang="fr-FR" dirty="0"/>
              <a:t> : référentiel géographique français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Nettoyage des données 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Suppression de toutes les colonnes vides et de toutes les colonnes qui faisaient doublon avec d’autres colonnes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5 tables créées : Région, Département, Commune, Bien, Vente</a:t>
            </a:r>
            <a:endParaRPr dirty="0"/>
          </a:p>
        </p:txBody>
      </p:sp>
      <p:sp>
        <p:nvSpPr>
          <p:cNvPr id="287" name="Google Shape;287;p36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88" name="Google Shape;288;p36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7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L’extrait du dictionnaire des données</a:t>
            </a:r>
            <a:endParaRPr b="0"/>
          </a:p>
        </p:txBody>
      </p:sp>
      <p:sp>
        <p:nvSpPr>
          <p:cNvPr id="295" name="Google Shape;295;p37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Format </a:t>
            </a:r>
            <a:r>
              <a:rPr lang="fr-FR" dirty="0" err="1"/>
              <a:t>excel</a:t>
            </a:r>
            <a:r>
              <a:rPr lang="fr-FR" dirty="0"/>
              <a:t>, 1 feuille par fichier avec pour les données conservées: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Signification, Type, Longueur, Nature, Règle de gestion, Règle de calcul</a:t>
            </a:r>
            <a:endParaRPr dirty="0"/>
          </a:p>
        </p:txBody>
      </p:sp>
      <p:sp>
        <p:nvSpPr>
          <p:cNvPr id="296" name="Google Shape;296;p37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297" name="Google Shape;297;p37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84E036E-70BC-40B0-B553-2B1DF3928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897" y="2168011"/>
            <a:ext cx="7284327" cy="28187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8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/>
              <a:t>Le schéma relationnel normalisé</a:t>
            </a:r>
            <a:endParaRPr b="0"/>
          </a:p>
        </p:txBody>
      </p:sp>
      <p:sp>
        <p:nvSpPr>
          <p:cNvPr id="304" name="Google Shape;304;p38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 dirty="0"/>
              <a:t>Lorem ipsum</a:t>
            </a:r>
            <a:endParaRPr dirty="0"/>
          </a:p>
        </p:txBody>
      </p:sp>
      <p:sp>
        <p:nvSpPr>
          <p:cNvPr id="305" name="Google Shape;305;p38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06" name="Google Shape;306;p38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30A3865-4252-552A-F464-37F4A19AD0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09" y="1046503"/>
            <a:ext cx="5895975" cy="33813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9"/>
          <p:cNvSpPr txBox="1">
            <a:spLocks noGrp="1"/>
          </p:cNvSpPr>
          <p:nvPr>
            <p:ph type="title"/>
          </p:nvPr>
        </p:nvSpPr>
        <p:spPr>
          <a:xfrm>
            <a:off x="390523" y="513184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Calibri"/>
              <a:buNone/>
            </a:pPr>
            <a:r>
              <a:rPr lang="fr" b="0" dirty="0"/>
              <a:t>La base de données avec les tables créées et les données chargées</a:t>
            </a:r>
            <a:endParaRPr b="0" dirty="0"/>
          </a:p>
        </p:txBody>
      </p:sp>
      <p:sp>
        <p:nvSpPr>
          <p:cNvPr id="313" name="Google Shape;313;p39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Requête de ce type pour chaque table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-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-FR" dirty="0"/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lang="fr-FR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fr-FR" dirty="0"/>
              <a:t>Nombre de lignes chargées pour chaque table :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Région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Département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Commune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Bien</a:t>
            </a:r>
          </a:p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-FR" dirty="0"/>
              <a:t>Vente</a:t>
            </a:r>
            <a:endParaRPr dirty="0"/>
          </a:p>
        </p:txBody>
      </p:sp>
      <p:sp>
        <p:nvSpPr>
          <p:cNvPr id="314" name="Google Shape;314;p39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15" name="Google Shape;315;p39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547C3FC-9196-6777-BA03-CB705D7876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594" y="1914060"/>
            <a:ext cx="2381250" cy="6572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5DC31261-4EE7-79BC-91D6-31D20E0C45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9019" y="3807793"/>
            <a:ext cx="1676400" cy="2190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F2221BC5-5643-7DF5-63D2-A38EE9B5A7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6209" y="3563395"/>
            <a:ext cx="1619250" cy="22860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5B40A88-CE86-28D0-6B84-6E9EC13DF4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78182" y="3331774"/>
            <a:ext cx="1514475" cy="200025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8F53754B-8BED-5046-EF49-75ADD3F67B7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78569" y="3052528"/>
            <a:ext cx="1466850" cy="24765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1284670E-3B64-774B-4D06-A2F123CBC6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4269" y="4075655"/>
            <a:ext cx="1695450" cy="2000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40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4689794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</a:pPr>
            <a:r>
              <a:rPr lang="fr" sz="2400" b="0"/>
              <a:t>Les requêtes ou screenshot qui permettent de démontrer le bon chargement des données</a:t>
            </a:r>
            <a:endParaRPr sz="2400" b="0"/>
          </a:p>
        </p:txBody>
      </p:sp>
      <p:sp>
        <p:nvSpPr>
          <p:cNvPr id="322" name="Google Shape;322;p40"/>
          <p:cNvSpPr txBox="1">
            <a:spLocks noGrp="1"/>
          </p:cNvSpPr>
          <p:nvPr>
            <p:ph type="body" idx="2"/>
          </p:nvPr>
        </p:nvSpPr>
        <p:spPr>
          <a:xfrm>
            <a:off x="390523" y="1552755"/>
            <a:ext cx="6978592" cy="3035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177800" lvl="0" indent="-177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fr"/>
              <a:t>Lorem ipsum</a:t>
            </a:r>
            <a:endParaRPr/>
          </a:p>
        </p:txBody>
      </p:sp>
      <p:sp>
        <p:nvSpPr>
          <p:cNvPr id="323" name="Google Shape;323;p40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Ajouter un pied de page</a:t>
            </a:r>
            <a:endParaRPr/>
          </a:p>
        </p:txBody>
      </p:sp>
      <p:sp>
        <p:nvSpPr>
          <p:cNvPr id="324" name="Google Shape;324;p40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 sz="900" b="0" i="0" u="none" strike="noStrike" cap="none">
                <a:solidFill>
                  <a:srgbClr val="9E9E9E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900" b="0" i="0" u="none" strike="noStrike" cap="none">
              <a:solidFill>
                <a:srgbClr val="9E9E9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35D6F37-CDEA-EAE1-43D9-A3156BAF92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734" y="1319793"/>
            <a:ext cx="5724525" cy="70485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1F1D176C-3501-EBCC-A1DE-FB6A0B7213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734" y="2203237"/>
            <a:ext cx="2711515" cy="1313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1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41"/>
          <p:cNvSpPr txBox="1">
            <a:spLocks noGrp="1"/>
          </p:cNvSpPr>
          <p:nvPr>
            <p:ph type="title"/>
          </p:nvPr>
        </p:nvSpPr>
        <p:spPr>
          <a:xfrm>
            <a:off x="4712882" y="1490565"/>
            <a:ext cx="3683725" cy="13423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Calibri"/>
              <a:buNone/>
            </a:pPr>
            <a:r>
              <a:rPr lang="fr" b="0">
                <a:latin typeface="Calibri"/>
                <a:ea typeface="Calibri"/>
                <a:cs typeface="Calibri"/>
                <a:sym typeface="Calibri"/>
              </a:rPr>
              <a:t>Requêtes SQL et résultats</a:t>
            </a:r>
            <a:endParaRPr/>
          </a:p>
        </p:txBody>
      </p:sp>
      <p:sp>
        <p:nvSpPr>
          <p:cNvPr id="333" name="Google Shape;333;p41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5" name="Google Shape;335;p41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79722" y="1607746"/>
            <a:ext cx="1801842" cy="177986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9DCDC3A-94F1-BB3E-2411-3406EAD798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/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</a:t>
            </a:r>
            <a:endParaRPr dirty="0"/>
          </a:p>
        </p:txBody>
      </p:sp>
      <p:sp>
        <p:nvSpPr>
          <p:cNvPr id="342" name="Google Shape;342;p42"/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/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10</a:t>
            </a:fld>
            <a:endParaRPr/>
          </a:p>
        </p:txBody>
      </p:sp>
      <p:sp>
        <p:nvSpPr>
          <p:cNvPr id="344" name="Google Shape;344;p42"/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1. Nombre total d’appartements vendus au 1er semestre 2020.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5429C04-FADB-FB97-16FC-B5F42977C9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552" y="1444300"/>
            <a:ext cx="3314700" cy="504825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DC637516-C7EB-418B-4E23-0AE1E174CF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552" y="1998776"/>
            <a:ext cx="1257300" cy="361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1C5A2E4-5A56-3699-B825-593582097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FACAC76-DF69-43BC-554A-FE7D1B21A2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AFA0D4BB-1F14-EB45-2791-CEDE2E36C60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38FB2F0C-98FE-1F01-3F6A-0D5856066C2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11</a:t>
            </a:fld>
            <a:endParaRPr dirty="0"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3DA6850-48B4-D4AB-F490-4B58EF7A976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2. Le nombre de ventes d’appartement par région pour le 1er semestre 2020. 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BECCD8C-1EBC-34F1-0EB5-B8BB24E70C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18725"/>
            <a:ext cx="3905250" cy="12954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EB21FF8-19A3-C08D-71B0-2F2F5A2DCB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998" y="1329318"/>
            <a:ext cx="2819400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459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A539008-662B-1317-8F6D-7FE2DAC85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97D28185-E376-3133-49F3-CE18BB71D5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3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B46D7512-0C4D-235F-1B11-1B7247578B27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443C4B77-81B3-DA4A-0677-10FF3CA5BAE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12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8509C88B-51DB-63E7-3239-305B2855E4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3. Proportion des ventes d’appartements par le nombre de pièces.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DFEE829-1793-C72D-7D20-0035FD85C7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446" y="1363237"/>
            <a:ext cx="7943850" cy="6477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2197DE-ECA0-615A-635B-0D71950AC5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79" y="2173674"/>
            <a:ext cx="25527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7179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47FB524A-EEDE-AC75-487E-02C15DB11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1876BEF4-7F29-2385-819A-042DD9EF4C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4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61EB736F-63C6-ED52-03CC-42CB21B2BE6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5E683A18-F387-9B41-BE8D-78627882C7B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13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112AC205-9E9A-2D3A-6F32-F2562423A0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4. Liste des 10 départements où le prix du mètre carré est le plus élevé.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F6A9DD1D-0871-8055-C9AA-41C7307F6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23219"/>
            <a:ext cx="6191250" cy="11334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57774C7-C0F3-947A-B24C-121997FEC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9575" y="2202580"/>
            <a:ext cx="24193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798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97A6A1DE-1572-3493-055F-682993520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0D127B1C-03FA-3C87-E50F-09FB71F0B5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5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DCDF148A-CA87-4B28-AC39-211633C2F86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75B23051-84AB-31B5-51B7-77C84B110E1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14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75FFC58D-3EF2-A985-0C97-D9FB407E2B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5. Prix moyen du mètre carré d’une maison en Île-de-France.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DAD3529-87D6-9C25-137E-739A65B01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357006"/>
            <a:ext cx="4848225" cy="1038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65A8308-58EB-1305-EAF9-F6B60EAE58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72" y="2654846"/>
            <a:ext cx="1562100" cy="40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4281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39FAA61C-2D18-6D6A-C597-BAE2195FD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46481A20-D286-236C-83BB-0A8BFCF301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6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94EC178C-77F9-71FF-1111-18D8B6A5CF23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2437CD88-297E-908C-FB28-C33B3F6C64F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15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876F89A-FEC2-2BB8-9FB3-182697FECE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6. Liste des 10 appartements les plus chers avec la région et le nombre de mètres carrés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D376BDA-0C97-04B4-B05C-874C90F787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34" y="1577084"/>
            <a:ext cx="5591175" cy="11715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3F45CFE-B27D-9F62-C837-325A4F770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0682" y="2427481"/>
            <a:ext cx="2686050" cy="192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27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25931F73-13BB-EE6D-6B3C-CE0757517C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876014F4-09B8-4BF5-E589-8FA324DB57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7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E1C6AD4C-8B18-6901-AC38-A18CC0758858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1AAF7D83-A998-5092-8F0F-BED0DFB766C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16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63FF1299-7A72-693A-D68C-3F6A05151D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7. Taux d’évolution du nombre de ventes entre le premier et le second trimestre de 2020.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6756DA53-161B-BB53-88DD-B990862A24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650" y="1675819"/>
            <a:ext cx="8648700" cy="5429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C48A8C45-90DA-613B-FC2B-4FABBDBCA8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322" y="2405193"/>
            <a:ext cx="1190625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640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54EFC25E-C0BC-EBAA-DAD2-95019F886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EA207FA3-7053-DEBB-00B2-D6B4BBF28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8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B1DCD1B-F5F8-346C-951A-E94393217B3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5C28F15-AA31-97EB-1C63-74FD15C27F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17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35F22B63-B61D-6562-71B2-092042118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8. Le classement des régions par rapport au prix au mètre carré des appartement de plus de 4 pièces. 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4C4D6A7-B27A-B6AA-73E3-49B27AD98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4321"/>
            <a:ext cx="9144000" cy="118924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6C4CCA7C-8804-60BF-2515-50DC8C3EBB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0575" y="1875147"/>
            <a:ext cx="3114675" cy="2790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5882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EEED6B7B-75A0-F05B-3523-4E8C9F63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F02D5FEA-3225-241B-3E0E-BE811891EB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9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1C726820-CFEF-7B5C-89BC-523E5D0AB964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D8C7945-4CAA-2E9C-1CBC-A7F12510AF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18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B9F4B2A2-750C-2144-6F16-C3672C047B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9. Liste des communes ayant eu au moins 50 ventes au 1er trimestre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8E2C30F-7DCD-9182-8433-1A7232701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525" y="1370954"/>
            <a:ext cx="4181475" cy="117157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AC3BB1A-C594-FBC1-0F2B-3DC595AFC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1422" y="1166813"/>
            <a:ext cx="2876550" cy="3600450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C23069D-D908-447F-DEF9-F941E49808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4397" y="3890963"/>
            <a:ext cx="28670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9406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A4492B82-6F92-8AC3-FD2B-F6F524DA3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ABF0B414-3CBD-9FEF-615F-D81F7232E5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10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3A4DFDF6-0EBF-7F26-78AF-F511742892D2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1B0A6AA-5EEA-2D06-7291-95D185F8706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19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98FDBFA3-98B8-4CC8-B641-C2414F4280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10. Différence en pourcentage du prix au mètre carré entre un appartement de 2 pièces et un appartement de 3 pièces. 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7A2C633E-99BA-0D8B-F094-C469E01439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624245"/>
            <a:ext cx="4076700" cy="1419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2BA256D2-BF6B-EF17-B06B-2AF631F0F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172" y="3268967"/>
            <a:ext cx="13335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5359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7D8497D5-B5D1-4204-3E6D-5DBE19F4C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4ABF39E-DBB4-CB0A-DC6D-1267CC6F7A2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11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30DD0E04-01A3-E488-0A13-468571CF574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0005D5B8-B55C-0D31-E0E1-2754690DA00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20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2DC6D3F9-5189-F5CD-B0A3-93D48DD0DD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11. Les moyennes de valeurs foncières pour le top 3 des communes des départements 6, 13, 33, 59 et 69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ED4D337-8F71-DF91-9C08-B8E19589D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62100"/>
            <a:ext cx="5048250" cy="2019300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A9D4BCA-1A36-1FD7-11E3-4DA7826551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7413" y="1409467"/>
            <a:ext cx="3200400" cy="2800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56612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>
          <a:extLst>
            <a:ext uri="{FF2B5EF4-FFF2-40B4-BE49-F238E27FC236}">
              <a16:creationId xmlns:a16="http://schemas.microsoft.com/office/drawing/2014/main" id="{6547CC08-E2BD-86FE-0B5E-1AC8CA1B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2">
            <a:extLst>
              <a:ext uri="{FF2B5EF4-FFF2-40B4-BE49-F238E27FC236}">
                <a16:creationId xmlns:a16="http://schemas.microsoft.com/office/drawing/2014/main" id="{77B71A51-35F0-659F-3575-62503478795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89008" y="156771"/>
            <a:ext cx="6249917" cy="860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Calibri"/>
              <a:buNone/>
            </a:pPr>
            <a:r>
              <a:rPr lang="fr" b="0" dirty="0"/>
              <a:t>Requête 12</a:t>
            </a:r>
            <a:endParaRPr dirty="0"/>
          </a:p>
        </p:txBody>
      </p:sp>
      <p:sp>
        <p:nvSpPr>
          <p:cNvPr id="342" name="Google Shape;342;p42">
            <a:extLst>
              <a:ext uri="{FF2B5EF4-FFF2-40B4-BE49-F238E27FC236}">
                <a16:creationId xmlns:a16="http://schemas.microsoft.com/office/drawing/2014/main" id="{2D91154E-E95C-4EA1-F416-A397B27F131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253897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Ajouter un pied de page</a:t>
            </a:r>
            <a:endParaRPr/>
          </a:p>
        </p:txBody>
      </p:sp>
      <p:sp>
        <p:nvSpPr>
          <p:cNvPr id="343" name="Google Shape;343;p42">
            <a:extLst>
              <a:ext uri="{FF2B5EF4-FFF2-40B4-BE49-F238E27FC236}">
                <a16:creationId xmlns:a16="http://schemas.microsoft.com/office/drawing/2014/main" id="{65E629DE-F017-459A-E87D-7E2418DB2A4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360228" y="4767263"/>
            <a:ext cx="55517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21</a:t>
            </a:fld>
            <a:endParaRPr/>
          </a:p>
        </p:txBody>
      </p:sp>
      <p:sp>
        <p:nvSpPr>
          <p:cNvPr id="344" name="Google Shape;344;p42">
            <a:extLst>
              <a:ext uri="{FF2B5EF4-FFF2-40B4-BE49-F238E27FC236}">
                <a16:creationId xmlns:a16="http://schemas.microsoft.com/office/drawing/2014/main" id="{DD30835E-9AE4-2A03-B8F5-9FDF946F30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90370" y="1032699"/>
            <a:ext cx="5526447" cy="456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</a:pPr>
            <a:r>
              <a:rPr lang="fr-FR" dirty="0"/>
              <a:t>12. Les 20 communes avec le plus de transactions pour 1000 habitants pour les communes qui dépassent les 10 000 habitants.</a:t>
            </a:r>
            <a:endParaRPr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11184CE-2990-B682-7008-1B8569B86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008" y="1533525"/>
            <a:ext cx="6467475" cy="10382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3A1D04A1-DB12-E3D3-C96D-A918026988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404" y="1903141"/>
            <a:ext cx="2667512" cy="2646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0599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1" name="Google Shape;351;p43" title="Image de bâtiment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0784" r="20784"/>
          <a:stretch/>
        </p:blipFill>
        <p:spPr>
          <a:xfrm>
            <a:off x="1262549" y="645708"/>
            <a:ext cx="3321392" cy="3852817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3" descr="Hexagone de couleur foncée unie au milieu d’accentuation d’image"/>
          <p:cNvSpPr/>
          <p:nvPr/>
        </p:nvSpPr>
        <p:spPr>
          <a:xfrm rot="-5400000">
            <a:off x="2009777" y="1791686"/>
            <a:ext cx="1809749" cy="1560129"/>
          </a:xfrm>
          <a:prstGeom prst="hexagon">
            <a:avLst>
              <a:gd name="adj" fmla="val 25000"/>
              <a:gd name="vf" fmla="val 11547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43"/>
          <p:cNvSpPr txBox="1">
            <a:spLocks noGrp="1"/>
          </p:cNvSpPr>
          <p:nvPr>
            <p:ph type="ctrTitle"/>
          </p:nvPr>
        </p:nvSpPr>
        <p:spPr>
          <a:xfrm>
            <a:off x="4781791" y="1504563"/>
            <a:ext cx="3640180" cy="121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</a:pPr>
            <a:r>
              <a:rPr lang="fr"/>
              <a:t>Merci !</a:t>
            </a:r>
            <a:endParaRPr/>
          </a:p>
        </p:txBody>
      </p:sp>
      <p:pic>
        <p:nvPicPr>
          <p:cNvPr id="354" name="Google Shape;354;p43" descr="https://lh5.googleusercontent.com/TcdnvzxQ7ulQo8GiFwfIKujloK6EfAJv7ikP-EvnfdTVQnROS3WXw6XSx9Cpd73e_l7GCUAnbxroB-qlzG2fvYdCyl-Y5QZ95MpiD-GfDN-4taJyHRqsr3vOZzc3ONTBu52b0HIdUOMeHvdHiA_5tD0"/>
          <p:cNvPicPr preferRelativeResize="0"/>
          <p:nvPr/>
        </p:nvPicPr>
        <p:blipFill rotWithShape="1">
          <a:blip r:embed="rId4">
            <a:alphaModFix/>
          </a:blip>
          <a:srcRect l="11387" t="12667" r="63940" b="13973"/>
          <a:stretch/>
        </p:blipFill>
        <p:spPr>
          <a:xfrm>
            <a:off x="1980103" y="1578297"/>
            <a:ext cx="1801842" cy="1779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Custom 14">
      <a:dk1>
        <a:srgbClr val="3F3F3F"/>
      </a:dk1>
      <a:lt1>
        <a:srgbClr val="FFFFFF"/>
      </a:lt1>
      <a:dk2>
        <a:srgbClr val="F2F2F2"/>
      </a:dk2>
      <a:lt2>
        <a:srgbClr val="A5A5A5"/>
      </a:lt2>
      <a:accent1>
        <a:srgbClr val="00194C"/>
      </a:accent1>
      <a:accent2>
        <a:srgbClr val="EAB200"/>
      </a:accent2>
      <a:accent3>
        <a:srgbClr val="F2F2F2"/>
      </a:accent3>
      <a:accent4>
        <a:srgbClr val="954F72"/>
      </a:accent4>
      <a:accent5>
        <a:srgbClr val="00843B"/>
      </a:accent5>
      <a:accent6>
        <a:srgbClr val="014067"/>
      </a:accent6>
      <a:hlink>
        <a:srgbClr val="00194C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626</Words>
  <Application>Microsoft Office PowerPoint</Application>
  <PresentationFormat>Affichage à l'écran (16:9)</PresentationFormat>
  <Paragraphs>130</Paragraphs>
  <Slides>22</Slides>
  <Notes>22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22</vt:i4>
      </vt:variant>
    </vt:vector>
  </HeadingPairs>
  <TitlesOfParts>
    <vt:vector size="27" baseType="lpstr">
      <vt:lpstr>Calibri</vt:lpstr>
      <vt:lpstr>Arial</vt:lpstr>
      <vt:lpstr>Arial Black</vt:lpstr>
      <vt:lpstr>Simple Light</vt:lpstr>
      <vt:lpstr>Thème Office</vt:lpstr>
      <vt:lpstr>Création et utilisation de la base de données</vt:lpstr>
      <vt:lpstr>Contexte du projet</vt:lpstr>
      <vt:lpstr>La stratégie de sauvegarde et la conformité RGPD</vt:lpstr>
      <vt:lpstr>Les données initiales</vt:lpstr>
      <vt:lpstr>L’extrait du dictionnaire des données</vt:lpstr>
      <vt:lpstr>Le schéma relationnel normalisé</vt:lpstr>
      <vt:lpstr>La base de données avec les tables créées et les données chargées</vt:lpstr>
      <vt:lpstr>Les requêtes ou screenshot qui permettent de démontrer le bon chargement des données</vt:lpstr>
      <vt:lpstr>Requêtes SQL et résultats</vt:lpstr>
      <vt:lpstr>Requête 1</vt:lpstr>
      <vt:lpstr>Requête 2</vt:lpstr>
      <vt:lpstr>Requête 3</vt:lpstr>
      <vt:lpstr>Requête 4</vt:lpstr>
      <vt:lpstr>Requête 5</vt:lpstr>
      <vt:lpstr>Requête 6</vt:lpstr>
      <vt:lpstr>Requête 7</vt:lpstr>
      <vt:lpstr>Requête 8</vt:lpstr>
      <vt:lpstr>Requête 9</vt:lpstr>
      <vt:lpstr>Requête 10</vt:lpstr>
      <vt:lpstr>Requête 11</vt:lpstr>
      <vt:lpstr>Requête 12</vt:lpstr>
      <vt:lpstr>Merci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arthur Alvarez</cp:lastModifiedBy>
  <cp:revision>3</cp:revision>
  <dcterms:modified xsi:type="dcterms:W3CDTF">2025-02-14T14:40:30Z</dcterms:modified>
</cp:coreProperties>
</file>